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Product Team — H2 2026 KPIs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869680" y="30175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Kurt Molina  ·  alignment w/ Ivan  ·  Jul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640080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star: absolute PBT per line. Three tiers, phase-aware, delivery managed on business impact — per our 29 Jun call and the QuantumLight (Revolut) performance playbook.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96926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THE METRIC TREE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11480" y="1261872"/>
            <a:ext cx="3675888" cy="512064"/>
          </a:xfrm>
          <a:prstGeom prst="roundRect">
            <a:avLst>
              <a:gd name="adj" fmla="val 8929"/>
            </a:avLst>
          </a:prstGeom>
          <a:solidFill>
            <a:srgbClr val="203AA9"/>
          </a:solidFill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 · NORTH STAR — absolute PBT (P) per line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DE3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QRPh  ·  Online  ·  Moto / Deals  ·  Credit Line  ·  Solar  ·  Offline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1847088"/>
            <a:ext cx="3675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PBT  =  Volume (disbursements)  ×  Profitability %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1792224" cy="384048"/>
          </a:xfrm>
          <a:prstGeom prst="roundRect">
            <a:avLst>
              <a:gd name="adj" fmla="val 9524"/>
            </a:avLst>
          </a:prstGeom>
          <a:solidFill>
            <a:srgbClr val="ECEEF8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· VOLUME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size / share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95144" y="2103120"/>
            <a:ext cx="1792224" cy="384048"/>
          </a:xfrm>
          <a:prstGeom prst="roundRect">
            <a:avLst>
              <a:gd name="adj" fmla="val 9524"/>
            </a:avLst>
          </a:prstGeom>
          <a:solidFill>
            <a:srgbClr val="ECEEF8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· PROFITABILITY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1170432" cy="402336"/>
          </a:xfrm>
          <a:prstGeom prst="roundRect">
            <a:avLst>
              <a:gd name="adj" fmla="val 9091"/>
            </a:avLst>
          </a:prstGeom>
          <a:solidFill>
            <a:srgbClr val="E7F4EE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too thin?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664208" y="2560320"/>
            <a:ext cx="1170432" cy="402336"/>
          </a:xfrm>
          <a:prstGeom prst="roundRect">
            <a:avLst>
              <a:gd name="adj" fmla="val 9091"/>
            </a:avLst>
          </a:prstGeom>
          <a:solidFill>
            <a:srgbClr val="FBEAE7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 eating margin?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16936" y="2560320"/>
            <a:ext cx="1170432" cy="402336"/>
          </a:xfrm>
          <a:prstGeom prst="roundRect">
            <a:avLst>
              <a:gd name="adj" fmla="val 9091"/>
            </a:avLst>
          </a:prstGeom>
          <a:solidFill>
            <a:srgbClr val="FCF3E0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C6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9C6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undiluted, no scale?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3054096"/>
            <a:ext cx="36758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— what the team moves daily</a:t>
            </a:r>
            <a:endParaRPr lang="en-US" sz="8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Margin:  markup rate · take-up rate · MDR</a:t>
            </a:r>
            <a:endParaRPr lang="en-US" sz="8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 cost of risk · NPM per merchant</a:t>
            </a:r>
            <a:endParaRPr lang="en-US" sz="8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9C6B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Opex:  opex per disbursement · sales-agent economics</a:t>
            </a:r>
            <a:endParaRPr lang="en-US" sz="8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  disb run rate · acceptance &amp; conversion · active partners · CL utilization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4096512"/>
            <a:ext cx="3675888" cy="713232"/>
          </a:xfrm>
          <a:prstGeom prst="roundRect">
            <a:avLst>
              <a:gd name="adj" fmla="val 5128"/>
            </a:avLst>
          </a:prstGeom>
          <a:solidFill>
            <a:srgbClr val="F6F4EF"/>
          </a:solidFill>
          <a:ln/>
        </p:spPr>
        <p:txBody>
          <a:bodyPr wrap="square" lIns="889" tIns="889" rIns="889" bIns="889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overlay decides the lever:  </a:t>
            </a:r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&amp; Question marks → push volume (all PMs sit here). Cash cow (Offline) → maintain, no PM. Low profitability is acceptable today where the phase says grow the size.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4937760"/>
            <a:ext cx="3675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— MAY 2026 READ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" y="5138928"/>
            <a:ext cx="3675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PBT slightly negative. QRPh small positive · Online possibly positive, small · Moto calculated negative, long run unknown · Credit Line launched 15 Jul · Solar kill-or-keep pending. The H2 job: grow the stars and question marks into the absolute number.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5968" y="9692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OWNER KPIs — THREE EACH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15968" y="118872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line outcome · D2 key driver · D3 delivery (all owners)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5968" y="1426464"/>
            <a:ext cx="4041648" cy="443484"/>
          </a:xfrm>
          <a:prstGeom prst="rect">
            <a:avLst/>
          </a:prstGeom>
          <a:solidFill>
            <a:srgbClr val="F6F4EF"/>
          </a:solidFill>
          <a:ln/>
        </p:spPr>
        <p:txBody>
          <a:bodyPr wrap="square" lIns="572" tIns="572" rIns="572" bIns="572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 Manlangit — Moto &amp; SAP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 P15M/mo (Nhat-gated)  ·  disb per active agent P315K → 500K+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15968" y="1906524"/>
            <a:ext cx="4041648" cy="443484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 Betia — Deals &amp; Solar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P25 → 50 → 100M/mo staged, at positive NPM  ·  acceptance &amp; conversion (salvage plan on rejects)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5968" y="2386584"/>
            <a:ext cx="4041648" cy="443484"/>
          </a:xfrm>
          <a:prstGeom prst="rect">
            <a:avLst/>
          </a:prstGeom>
          <a:solidFill>
            <a:srgbClr val="F6F4EF"/>
          </a:solidFill>
          <a:ln/>
        </p:spPr>
        <p:txBody>
          <a:bodyPr wrap="square" lIns="572" tIns="572" rIns="572" bIns="572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Manzil Balani — Deals BD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Managed-account disb (ProTech · Maxicare · 3Cat)  ·  new merchants live, ticket uplift P1,000–2,000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15968" y="2866644"/>
            <a:ext cx="4041648" cy="443484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Elias Marcella — Credit Line &amp; Card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utilization &amp; drawdown (target set ~15 Aug)  ·  per-card break-even at CAC P300–500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15968" y="3346704"/>
            <a:ext cx="4041648" cy="443484"/>
          </a:xfrm>
          <a:prstGeom prst="rect">
            <a:avLst/>
          </a:prstGeom>
          <a:solidFill>
            <a:srgbClr val="F6F4EF"/>
          </a:solidFill>
          <a:ln/>
        </p:spPr>
        <p:txBody>
          <a:bodyPr wrap="square" lIns="572" tIns="572" rIns="572" bIns="572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Jastin Lagumbay — QRPh &amp; Onboarding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QRPh P107M/mo run rate  ·  onboarding cycle time signed → live, zero config errors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15968" y="3826764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D3, every owner: </a:t>
            </a:r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agreed roadmap steps delivered on pace — scored weekly in the tracker.   </a:t>
            </a:r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Enablers: </a:t>
            </a:r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Nhat (PBT-per-line model) · Jenny (metric-tree dashboard) · Billy (release quality gate).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5968" y="433882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TARGETS ARE SET BOTTOM-UP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315968" y="4594860"/>
            <a:ext cx="4041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8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→ why (margin, risk or opex?) → agreed actions → estimated impact → deadline  ⇒  the target.</a:t>
            </a:r>
            <a:endParaRPr lang="en-US" sz="880" dirty="0"/>
          </a:p>
          <a:p>
            <a:pPr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88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salvage ~20% of Deals rejects: at ~5% conversion that can triple volume — that estimate, on a date, becomes the month's number.</a:t>
            </a:r>
            <a:endParaRPr lang="en-US" sz="880" dirty="0"/>
          </a:p>
          <a:p>
            <a:pPr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8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targets out of nowhere. A miss traces to a delivery gap, visible per project in the tracker.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8613648" y="96926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TRACKING RHYTHM — STRICT FROM JUL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613648" y="1243584"/>
            <a:ext cx="3163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· Mon standup</a:t>
            </a:r>
            <a:endParaRPr lang="en-US" sz="8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 tracker: status, due vs delivered, blockers, impact. Detail stays in ClickUp (linked per row).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613648" y="1824228"/>
            <a:ext cx="3163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· KPI readout</a:t>
            </a:r>
            <a:endParaRPr lang="en-US" sz="8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vs actual per line — Nhat's PBT model + Jenny's dashboard.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613648" y="2404872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· scorecard (first: end Sep)</a:t>
            </a:r>
            <a:endParaRPr lang="en-US" sz="8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Revolut-style review per PM: Culture · Skills · Deliverables = (Speed + Quality) × Complexity, vs seniority talent bar → A-player / Above bar / Underperformer. A-players 15–25%, calibrated.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13648" y="3268980"/>
            <a:ext cx="3163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Semi-annual · promotion &amp; pay</a:t>
            </a:r>
            <a:endParaRPr lang="en-US" sz="8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Promotions on sustained A-player grades; pay to benchmark; bonus multiplier = grade × KPI attainment.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613648" y="3904488"/>
            <a:ext cx="3163824" cy="1975104"/>
          </a:xfrm>
          <a:prstGeom prst="roundRect">
            <a:avLst>
              <a:gd name="adj" fmla="val 2315"/>
            </a:avLst>
          </a:prstGeom>
          <a:solidFill>
            <a:srgbClr val="ECEEF8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050" b="1" spc="100" kern="0" dirty="0">
                <a:solidFill>
                  <a:srgbClr val="203A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TO AGREE TODAY</a:t>
            </a:r>
            <a:endParaRPr lang="en-US" sz="88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8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Tier 0 = PBT per line; phase per line as shown</a:t>
            </a:r>
            <a:endParaRPr lang="en-US" sz="88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8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Volume targets: QRPh 107 · Moto 15 · Deals ramp timing · CL utilization target on 15 Aug</a:t>
            </a:r>
            <a:endParaRPr lang="en-US" sz="88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8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Adopt the PO scorecard + talent bar for the 5 PMs; first review end of Sep</a:t>
            </a:r>
            <a:endParaRPr lang="en-US" sz="88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8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Bonus linkage: scorecard grade × KPI attainment, team and lead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411480" y="6528816"/>
            <a:ext cx="11365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docs: Executive Project Tracker v2 (weekly, linked to the KPI tree, ClickUp links per row)  ·  KPI Targets H2 tab (monthly)  ·  QuantumLight Product Owner scorecard (quarterly).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2026-07-19T03:20:24Z</dcterms:created>
  <dcterms:modified xsi:type="dcterms:W3CDTF">2026-07-19T03:20:24Z</dcterms:modified>
</cp:coreProperties>
</file>