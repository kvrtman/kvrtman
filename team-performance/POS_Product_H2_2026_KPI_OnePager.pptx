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56032"/>
            <a:ext cx="8412480" cy="384048"/>
          </a:xfrm>
          <a:prstGeom prst="rect">
            <a:avLst/>
          </a:prstGeom>
          <a:noFill/>
          <a:ln/>
        </p:spPr>
        <p:txBody>
          <a:bodyPr wrap="square" lIns="0" tIns="0" rIns="0" bIns="0" rtlCol="0" anchor="ctr"/>
          <a:lstStyle/>
          <a:p>
            <a:pPr algn="l" indent="0" marL="0">
              <a:buNone/>
            </a:pPr>
            <a:r>
              <a:rPr lang="en-US" sz="2300" b="1" dirty="0">
                <a:solidFill>
                  <a:srgbClr val="203AA9"/>
                </a:solidFill>
                <a:latin typeface="Arial" pitchFamily="34" charset="0"/>
                <a:ea typeface="Arial" pitchFamily="34" charset="-122"/>
                <a:cs typeface="Arial" pitchFamily="34" charset="-120"/>
              </a:rPr>
              <a:t>POS Product Team KPIs, H2 2026</a:t>
            </a:r>
            <a:endParaRPr lang="en-US" sz="2300" dirty="0"/>
          </a:p>
        </p:txBody>
      </p:sp>
      <p:sp>
        <p:nvSpPr>
          <p:cNvPr id="3" name="Text 1"/>
          <p:cNvSpPr/>
          <p:nvPr/>
        </p:nvSpPr>
        <p:spPr>
          <a:xfrm>
            <a:off x="8869680" y="301752"/>
            <a:ext cx="2907792" cy="274320"/>
          </a:xfrm>
          <a:prstGeom prst="rect">
            <a:avLst/>
          </a:prstGeom>
          <a:noFill/>
          <a:ln/>
        </p:spPr>
        <p:txBody>
          <a:bodyPr wrap="square" lIns="0" tIns="0" rIns="0" bIns="0" rtlCol="0" anchor="ctr"/>
          <a:lstStyle/>
          <a:p>
            <a:pPr algn="r" indent="0" marL="0">
              <a:buNone/>
            </a:pPr>
            <a:r>
              <a:rPr lang="en-US" sz="900" dirty="0">
                <a:solidFill>
                  <a:srgbClr val="8A8A82"/>
                </a:solidFill>
                <a:latin typeface="Arial" pitchFamily="34" charset="0"/>
                <a:ea typeface="Arial" pitchFamily="34" charset="-122"/>
                <a:cs typeface="Arial" pitchFamily="34" charset="-120"/>
              </a:rPr>
              <a:t>Kurt Molina, for alignment with Ivan, Jul 2026</a:t>
            </a:r>
            <a:endParaRPr lang="en-US" sz="900" dirty="0"/>
          </a:p>
        </p:txBody>
      </p:sp>
      <p:sp>
        <p:nvSpPr>
          <p:cNvPr id="4" name="Text 2"/>
          <p:cNvSpPr/>
          <p:nvPr/>
        </p:nvSpPr>
        <p:spPr>
          <a:xfrm>
            <a:off x="411480" y="640080"/>
            <a:ext cx="11365992" cy="256032"/>
          </a:xfrm>
          <a:prstGeom prst="rect">
            <a:avLst/>
          </a:prstGeom>
          <a:noFill/>
          <a:ln/>
        </p:spPr>
        <p:txBody>
          <a:bodyPr wrap="square" lIns="0" tIns="0" rIns="0" bIns="0" rtlCol="0" anchor="ctr"/>
          <a:lstStyle/>
          <a:p>
            <a:pPr indent="0" marL="0">
              <a:buNone/>
            </a:pPr>
            <a:r>
              <a:rPr lang="en-US" sz="950" dirty="0">
                <a:solidFill>
                  <a:srgbClr val="1A1A1A"/>
                </a:solidFill>
                <a:latin typeface="Arial" pitchFamily="34" charset="0"/>
                <a:ea typeface="Arial" pitchFamily="34" charset="-122"/>
                <a:cs typeface="Arial" pitchFamily="34" charset="-120"/>
              </a:rPr>
              <a:t>Proposed framework for discussion and approval. North star: absolute PBT per line, three tiers, phase aware, delivery managed on business impact. Combines our 29 Jun call with the QuantumLight (Revolut) playbook. All number KPIs are placeholders until set bottom-up.</a:t>
            </a:r>
            <a:endParaRPr lang="en-US" sz="950" dirty="0"/>
          </a:p>
        </p:txBody>
      </p:sp>
      <p:sp>
        <p:nvSpPr>
          <p:cNvPr id="5" name="Text 3"/>
          <p:cNvSpPr/>
          <p:nvPr/>
        </p:nvSpPr>
        <p:spPr>
          <a:xfrm>
            <a:off x="411480" y="969264"/>
            <a:ext cx="3675888" cy="219456"/>
          </a:xfrm>
          <a:prstGeom prst="rect">
            <a:avLst/>
          </a:prstGeom>
          <a:noFill/>
          <a:ln/>
        </p:spPr>
        <p:txBody>
          <a:bodyPr wrap="square" lIns="0" tIns="0" rIns="0" bIns="0" rtlCol="0" anchor="ctr"/>
          <a:lstStyle/>
          <a:p>
            <a:pPr indent="0" marL="0">
              <a:buNone/>
            </a:pPr>
            <a:r>
              <a:rPr lang="en-US" sz="1050" b="1" spc="100" kern="0" dirty="0">
                <a:solidFill>
                  <a:srgbClr val="203AA9"/>
                </a:solidFill>
                <a:latin typeface="Arial" pitchFamily="34" charset="0"/>
                <a:ea typeface="Arial" pitchFamily="34" charset="-122"/>
                <a:cs typeface="Arial" pitchFamily="34" charset="-120"/>
              </a:rPr>
              <a:t>1. THE METRIC TREE</a:t>
            </a:r>
            <a:endParaRPr lang="en-US" sz="1050" dirty="0"/>
          </a:p>
        </p:txBody>
      </p:sp>
      <p:sp>
        <p:nvSpPr>
          <p:cNvPr id="6" name="Text 4"/>
          <p:cNvSpPr/>
          <p:nvPr/>
        </p:nvSpPr>
        <p:spPr>
          <a:xfrm>
            <a:off x="411480" y="1261872"/>
            <a:ext cx="3675888" cy="512064"/>
          </a:xfrm>
          <a:prstGeom prst="roundRect">
            <a:avLst>
              <a:gd name="adj" fmla="val 8929"/>
            </a:avLst>
          </a:prstGeom>
          <a:solidFill>
            <a:srgbClr val="203AA9"/>
          </a:solidFill>
          <a:ln/>
        </p:spPr>
        <p:txBody>
          <a:bodyPr wrap="square" lIns="762" tIns="762" rIns="762" bIns="762"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TIER 0 NORTH STAR: absolute PBT (pesos) per line</a:t>
            </a:r>
            <a:endParaRPr lang="en-US" sz="950" dirty="0"/>
          </a:p>
          <a:p>
            <a:pPr algn="ctr" indent="0" marL="0">
              <a:buNone/>
            </a:pPr>
            <a:r>
              <a:rPr lang="en-US" sz="850" dirty="0">
                <a:solidFill>
                  <a:srgbClr val="DDE3F7"/>
                </a:solidFill>
                <a:latin typeface="Arial" pitchFamily="34" charset="0"/>
                <a:ea typeface="Arial" pitchFamily="34" charset="-122"/>
                <a:cs typeface="Arial" pitchFamily="34" charset="-120"/>
              </a:rPr>
              <a:t>QRPh, Online, Moto/Deals, Credit Line, Solar, Offline</a:t>
            </a:r>
            <a:endParaRPr lang="en-US" sz="950" dirty="0"/>
          </a:p>
        </p:txBody>
      </p:sp>
      <p:sp>
        <p:nvSpPr>
          <p:cNvPr id="7" name="Text 5"/>
          <p:cNvSpPr/>
          <p:nvPr/>
        </p:nvSpPr>
        <p:spPr>
          <a:xfrm>
            <a:off x="411480" y="1847088"/>
            <a:ext cx="3675888" cy="201168"/>
          </a:xfrm>
          <a:prstGeom prst="rect">
            <a:avLst/>
          </a:prstGeom>
          <a:noFill/>
          <a:ln/>
        </p:spPr>
        <p:txBody>
          <a:bodyPr wrap="square" lIns="0" tIns="0" rIns="0" bIns="0" rtlCol="0" anchor="ctr"/>
          <a:lstStyle/>
          <a:p>
            <a:pPr algn="ctr" indent="0" marL="0">
              <a:buNone/>
            </a:pPr>
            <a:r>
              <a:rPr lang="en-US" sz="950" b="1" dirty="0">
                <a:solidFill>
                  <a:srgbClr val="1A1A1A"/>
                </a:solidFill>
                <a:latin typeface="Arial" pitchFamily="34" charset="0"/>
                <a:ea typeface="Arial" pitchFamily="34" charset="-122"/>
                <a:cs typeface="Arial" pitchFamily="34" charset="-120"/>
              </a:rPr>
              <a:t>PBT  =  Volume (disbursements)  x  Profitability %</a:t>
            </a:r>
            <a:endParaRPr lang="en-US" sz="950" dirty="0"/>
          </a:p>
        </p:txBody>
      </p:sp>
      <p:sp>
        <p:nvSpPr>
          <p:cNvPr id="8" name="Text 6"/>
          <p:cNvSpPr/>
          <p:nvPr/>
        </p:nvSpPr>
        <p:spPr>
          <a:xfrm>
            <a:off x="411480" y="2103120"/>
            <a:ext cx="1792224" cy="384048"/>
          </a:xfrm>
          <a:prstGeom prst="roundRect">
            <a:avLst>
              <a:gd name="adj" fmla="val 9524"/>
            </a:avLst>
          </a:prstGeom>
          <a:solidFill>
            <a:srgbClr val="ECEEF8"/>
          </a:solidFill>
          <a:ln/>
        </p:spPr>
        <p:txBody>
          <a:bodyPr wrap="square" lIns="381" tIns="381" rIns="381" bIns="381" rtlCol="0" anchor="ctr"/>
          <a:lstStyle/>
          <a:p>
            <a:pPr algn="ctr" indent="0" marL="0">
              <a:buNone/>
            </a:pPr>
            <a:r>
              <a:rPr lang="en-US" sz="850" b="1" dirty="0">
                <a:solidFill>
                  <a:srgbClr val="203AA9"/>
                </a:solidFill>
                <a:latin typeface="Arial" pitchFamily="34" charset="0"/>
                <a:ea typeface="Arial" pitchFamily="34" charset="-122"/>
                <a:cs typeface="Arial" pitchFamily="34" charset="-120"/>
              </a:rPr>
              <a:t>TIER 1: VOLUME</a:t>
            </a:r>
            <a:endParaRPr lang="en-US" sz="850" dirty="0"/>
          </a:p>
          <a:p>
            <a:pPr algn="ctr" indent="0" marL="0">
              <a:buNone/>
            </a:pPr>
            <a:r>
              <a:rPr lang="en-US" sz="850" b="1" dirty="0">
                <a:solidFill>
                  <a:srgbClr val="203AA9"/>
                </a:solidFill>
                <a:latin typeface="Arial" pitchFamily="34" charset="0"/>
                <a:ea typeface="Arial" pitchFamily="34" charset="-122"/>
                <a:cs typeface="Arial" pitchFamily="34" charset="-120"/>
              </a:rPr>
              <a:t>portfolio size and share</a:t>
            </a:r>
            <a:endParaRPr lang="en-US" sz="850" dirty="0"/>
          </a:p>
        </p:txBody>
      </p:sp>
      <p:sp>
        <p:nvSpPr>
          <p:cNvPr id="9" name="Text 7"/>
          <p:cNvSpPr/>
          <p:nvPr/>
        </p:nvSpPr>
        <p:spPr>
          <a:xfrm>
            <a:off x="2295144" y="2103120"/>
            <a:ext cx="1792224" cy="384048"/>
          </a:xfrm>
          <a:prstGeom prst="roundRect">
            <a:avLst>
              <a:gd name="adj" fmla="val 9524"/>
            </a:avLst>
          </a:prstGeom>
          <a:solidFill>
            <a:srgbClr val="ECEEF8"/>
          </a:solidFill>
          <a:ln/>
        </p:spPr>
        <p:txBody>
          <a:bodyPr wrap="square" lIns="381" tIns="381" rIns="381" bIns="381" rtlCol="0" anchor="ctr"/>
          <a:lstStyle/>
          <a:p>
            <a:pPr algn="ctr" indent="0" marL="0">
              <a:buNone/>
            </a:pPr>
            <a:r>
              <a:rPr lang="en-US" sz="850" b="1" dirty="0">
                <a:solidFill>
                  <a:srgbClr val="203AA9"/>
                </a:solidFill>
                <a:latin typeface="Arial" pitchFamily="34" charset="0"/>
                <a:ea typeface="Arial" pitchFamily="34" charset="-122"/>
                <a:cs typeface="Arial" pitchFamily="34" charset="-120"/>
              </a:rPr>
              <a:t>TIER 1: PROFITABILITY</a:t>
            </a:r>
            <a:endParaRPr lang="en-US" sz="850" dirty="0"/>
          </a:p>
          <a:p>
            <a:pPr algn="ctr" indent="0" marL="0">
              <a:buNone/>
            </a:pPr>
            <a:r>
              <a:rPr lang="en-US" sz="850" b="1" dirty="0">
                <a:solidFill>
                  <a:srgbClr val="203AA9"/>
                </a:solidFill>
                <a:latin typeface="Arial" pitchFamily="34" charset="0"/>
                <a:ea typeface="Arial" pitchFamily="34" charset="-122"/>
                <a:cs typeface="Arial" pitchFamily="34" charset="-120"/>
              </a:rPr>
              <a:t>margin %</a:t>
            </a:r>
            <a:endParaRPr lang="en-US" sz="850" dirty="0"/>
          </a:p>
        </p:txBody>
      </p:sp>
      <p:sp>
        <p:nvSpPr>
          <p:cNvPr id="10" name="Text 8"/>
          <p:cNvSpPr/>
          <p:nvPr/>
        </p:nvSpPr>
        <p:spPr>
          <a:xfrm>
            <a:off x="411480" y="2560320"/>
            <a:ext cx="1170432" cy="402336"/>
          </a:xfrm>
          <a:prstGeom prst="roundRect">
            <a:avLst>
              <a:gd name="adj" fmla="val 9091"/>
            </a:avLst>
          </a:prstGeom>
          <a:solidFill>
            <a:srgbClr val="E7F4EE"/>
          </a:solidFill>
          <a:ln/>
        </p:spPr>
        <p:txBody>
          <a:bodyPr wrap="square" lIns="381" tIns="381" rIns="381" bIns="381" rtlCol="0" anchor="ctr"/>
          <a:lstStyle/>
          <a:p>
            <a:pPr algn="ctr" indent="0" marL="0">
              <a:buNone/>
            </a:pPr>
            <a:r>
              <a:rPr lang="en-US" sz="850" b="1" dirty="0">
                <a:solidFill>
                  <a:srgbClr val="1E8E5A"/>
                </a:solidFill>
                <a:latin typeface="Arial" pitchFamily="34" charset="0"/>
                <a:ea typeface="Arial" pitchFamily="34" charset="-122"/>
                <a:cs typeface="Arial" pitchFamily="34" charset="-120"/>
              </a:rPr>
              <a:t>MARGIN</a:t>
            </a:r>
            <a:endParaRPr lang="en-US" sz="850" dirty="0"/>
          </a:p>
          <a:p>
            <a:pPr algn="ctr" indent="0" marL="0">
              <a:buNone/>
            </a:pPr>
            <a:r>
              <a:rPr lang="en-US" sz="850" b="1" dirty="0">
                <a:solidFill>
                  <a:srgbClr val="1E8E5A"/>
                </a:solidFill>
                <a:latin typeface="Arial" pitchFamily="34" charset="0"/>
                <a:ea typeface="Arial" pitchFamily="34" charset="-122"/>
                <a:cs typeface="Arial" pitchFamily="34" charset="-120"/>
              </a:rPr>
              <a:t>pricing too thin?</a:t>
            </a:r>
            <a:endParaRPr lang="en-US" sz="850" dirty="0"/>
          </a:p>
        </p:txBody>
      </p:sp>
      <p:sp>
        <p:nvSpPr>
          <p:cNvPr id="11" name="Text 9"/>
          <p:cNvSpPr/>
          <p:nvPr/>
        </p:nvSpPr>
        <p:spPr>
          <a:xfrm>
            <a:off x="1664208" y="2560320"/>
            <a:ext cx="1170432" cy="402336"/>
          </a:xfrm>
          <a:prstGeom prst="roundRect">
            <a:avLst>
              <a:gd name="adj" fmla="val 9091"/>
            </a:avLst>
          </a:prstGeom>
          <a:solidFill>
            <a:srgbClr val="FBEAE7"/>
          </a:solidFill>
          <a:ln/>
        </p:spPr>
        <p:txBody>
          <a:bodyPr wrap="square" lIns="381" tIns="381" rIns="381" bIns="381" rtlCol="0" anchor="ctr"/>
          <a:lstStyle/>
          <a:p>
            <a:pPr algn="ctr" indent="0" marL="0">
              <a:buNone/>
            </a:pPr>
            <a:r>
              <a:rPr lang="en-US" sz="850" b="1" dirty="0">
                <a:solidFill>
                  <a:srgbClr val="C0392B"/>
                </a:solidFill>
                <a:latin typeface="Arial" pitchFamily="34" charset="0"/>
                <a:ea typeface="Arial" pitchFamily="34" charset="-122"/>
                <a:cs typeface="Arial" pitchFamily="34" charset="-120"/>
              </a:rPr>
              <a:t>RISK</a:t>
            </a:r>
            <a:endParaRPr lang="en-US" sz="850" dirty="0"/>
          </a:p>
          <a:p>
            <a:pPr algn="ctr" indent="0" marL="0">
              <a:buNone/>
            </a:pPr>
            <a:r>
              <a:rPr lang="en-US" sz="850" b="1" dirty="0">
                <a:solidFill>
                  <a:srgbClr val="C0392B"/>
                </a:solidFill>
                <a:latin typeface="Arial" pitchFamily="34" charset="0"/>
                <a:ea typeface="Arial" pitchFamily="34" charset="-122"/>
                <a:cs typeface="Arial" pitchFamily="34" charset="-120"/>
              </a:rPr>
              <a:t>CoR eating margin?</a:t>
            </a:r>
            <a:endParaRPr lang="en-US" sz="850" dirty="0"/>
          </a:p>
        </p:txBody>
      </p:sp>
      <p:sp>
        <p:nvSpPr>
          <p:cNvPr id="12" name="Text 10"/>
          <p:cNvSpPr/>
          <p:nvPr/>
        </p:nvSpPr>
        <p:spPr>
          <a:xfrm>
            <a:off x="2916936" y="2560320"/>
            <a:ext cx="1170432" cy="402336"/>
          </a:xfrm>
          <a:prstGeom prst="roundRect">
            <a:avLst>
              <a:gd name="adj" fmla="val 9091"/>
            </a:avLst>
          </a:prstGeom>
          <a:solidFill>
            <a:srgbClr val="FCF3E0"/>
          </a:solidFill>
          <a:ln/>
        </p:spPr>
        <p:txBody>
          <a:bodyPr wrap="square" lIns="381" tIns="381" rIns="381" bIns="381" rtlCol="0" anchor="ctr"/>
          <a:lstStyle/>
          <a:p>
            <a:pPr algn="ctr" indent="0" marL="0">
              <a:buNone/>
            </a:pPr>
            <a:r>
              <a:rPr lang="en-US" sz="850" b="1" dirty="0">
                <a:solidFill>
                  <a:srgbClr val="9C6B1D"/>
                </a:solidFill>
                <a:latin typeface="Arial" pitchFamily="34" charset="0"/>
                <a:ea typeface="Arial" pitchFamily="34" charset="-122"/>
                <a:cs typeface="Arial" pitchFamily="34" charset="-120"/>
              </a:rPr>
              <a:t>OPEX</a:t>
            </a:r>
            <a:endParaRPr lang="en-US" sz="850" dirty="0"/>
          </a:p>
          <a:p>
            <a:pPr algn="ctr" indent="0" marL="0">
              <a:buNone/>
            </a:pPr>
            <a:r>
              <a:rPr lang="en-US" sz="850" b="1" dirty="0">
                <a:solidFill>
                  <a:srgbClr val="9C6B1D"/>
                </a:solidFill>
                <a:latin typeface="Arial" pitchFamily="34" charset="0"/>
                <a:ea typeface="Arial" pitchFamily="34" charset="-122"/>
                <a:cs typeface="Arial" pitchFamily="34" charset="-120"/>
              </a:rPr>
              <a:t>undiluted, no scale?</a:t>
            </a:r>
            <a:endParaRPr lang="en-US" sz="850" dirty="0"/>
          </a:p>
        </p:txBody>
      </p:sp>
      <p:sp>
        <p:nvSpPr>
          <p:cNvPr id="13" name="Text 11"/>
          <p:cNvSpPr/>
          <p:nvPr/>
        </p:nvSpPr>
        <p:spPr>
          <a:xfrm>
            <a:off x="411480" y="3054096"/>
            <a:ext cx="3675888" cy="969264"/>
          </a:xfrm>
          <a:prstGeom prst="rect">
            <a:avLst/>
          </a:prstGeom>
          <a:noFill/>
          <a:ln/>
        </p:spPr>
        <p:txBody>
          <a:bodyPr wrap="square" lIns="0" tIns="0" rIns="0" bIns="0" rtlCol="0" anchor="ctr"/>
          <a:lstStyle/>
          <a:p>
            <a:pPr indent="0" marL="0">
              <a:lnSpc>
                <a:spcPct val="112000"/>
              </a:lnSpc>
              <a:buNone/>
            </a:pPr>
            <a:r>
              <a:rPr lang="en-US" sz="850" b="1" dirty="0">
                <a:solidFill>
                  <a:srgbClr val="1A1A1A"/>
                </a:solidFill>
                <a:latin typeface="Arial" pitchFamily="34" charset="0"/>
                <a:ea typeface="Arial" pitchFamily="34" charset="-122"/>
                <a:cs typeface="Arial" pitchFamily="34" charset="-120"/>
              </a:rPr>
              <a:t>TIER 3: what the team moves daily</a:t>
            </a:r>
            <a:endParaRPr lang="en-US" sz="850" dirty="0"/>
          </a:p>
          <a:p>
            <a:pPr indent="0" marL="0">
              <a:lnSpc>
                <a:spcPct val="112000"/>
              </a:lnSpc>
              <a:buNone/>
            </a:pPr>
            <a:r>
              <a:rPr lang="en-US" sz="850" dirty="0">
                <a:solidFill>
                  <a:srgbClr val="1E8E5A"/>
                </a:solidFill>
                <a:latin typeface="Arial" pitchFamily="34" charset="0"/>
                <a:ea typeface="Arial" pitchFamily="34" charset="-122"/>
                <a:cs typeface="Arial" pitchFamily="34" charset="-120"/>
              </a:rPr>
              <a:t>Margin: markup rate, take-up rate, MDR</a:t>
            </a:r>
            <a:endParaRPr lang="en-US" sz="850" dirty="0"/>
          </a:p>
          <a:p>
            <a:pPr indent="0" marL="0">
              <a:lnSpc>
                <a:spcPct val="112000"/>
              </a:lnSpc>
              <a:buNone/>
            </a:pPr>
            <a:r>
              <a:rPr lang="en-US" sz="850" dirty="0">
                <a:solidFill>
                  <a:srgbClr val="C0392B"/>
                </a:solidFill>
                <a:latin typeface="Arial" pitchFamily="34" charset="0"/>
                <a:ea typeface="Arial" pitchFamily="34" charset="-122"/>
                <a:cs typeface="Arial" pitchFamily="34" charset="-120"/>
              </a:rPr>
              <a:t>Risk: cost of risk, NPM per merchant</a:t>
            </a:r>
            <a:endParaRPr lang="en-US" sz="850" dirty="0"/>
          </a:p>
          <a:p>
            <a:pPr indent="0" marL="0">
              <a:lnSpc>
                <a:spcPct val="112000"/>
              </a:lnSpc>
              <a:buNone/>
            </a:pPr>
            <a:r>
              <a:rPr lang="en-US" sz="850" dirty="0">
                <a:solidFill>
                  <a:srgbClr val="9C6B1D"/>
                </a:solidFill>
                <a:latin typeface="Arial" pitchFamily="34" charset="0"/>
                <a:ea typeface="Arial" pitchFamily="34" charset="-122"/>
                <a:cs typeface="Arial" pitchFamily="34" charset="-120"/>
              </a:rPr>
              <a:t>Opex: opex per disbursement, sales-agent economics</a:t>
            </a:r>
            <a:endParaRPr lang="en-US" sz="850" dirty="0"/>
          </a:p>
          <a:p>
            <a:pPr indent="0" marL="0">
              <a:lnSpc>
                <a:spcPct val="112000"/>
              </a:lnSpc>
              <a:buNone/>
            </a:pPr>
            <a:r>
              <a:rPr lang="en-US" sz="850" dirty="0">
                <a:solidFill>
                  <a:srgbClr val="203AA9"/>
                </a:solidFill>
                <a:latin typeface="Arial" pitchFamily="34" charset="0"/>
                <a:ea typeface="Arial" pitchFamily="34" charset="-122"/>
                <a:cs typeface="Arial" pitchFamily="34" charset="-120"/>
              </a:rPr>
              <a:t>Volume: disb run rate, acceptance and conversion, active partners, CL utilization</a:t>
            </a:r>
            <a:endParaRPr lang="en-US" sz="850" dirty="0"/>
          </a:p>
        </p:txBody>
      </p:sp>
      <p:sp>
        <p:nvSpPr>
          <p:cNvPr id="14" name="Text 12"/>
          <p:cNvSpPr/>
          <p:nvPr/>
        </p:nvSpPr>
        <p:spPr>
          <a:xfrm>
            <a:off x="411480" y="4096512"/>
            <a:ext cx="3675888" cy="713232"/>
          </a:xfrm>
          <a:prstGeom prst="roundRect">
            <a:avLst>
              <a:gd name="adj" fmla="val 5128"/>
            </a:avLst>
          </a:prstGeom>
          <a:solidFill>
            <a:srgbClr val="F6F4EF"/>
          </a:solidFill>
          <a:ln/>
        </p:spPr>
        <p:txBody>
          <a:bodyPr wrap="square" lIns="889" tIns="889" rIns="889" bIns="889" rtlCol="0" anchor="ctr"/>
          <a:lstStyle/>
          <a:p>
            <a:pPr indent="0" marL="0">
              <a:buNone/>
            </a:pPr>
            <a:r>
              <a:rPr lang="en-US" sz="850" b="1" dirty="0">
                <a:solidFill>
                  <a:srgbClr val="1A1A1A"/>
                </a:solidFill>
                <a:latin typeface="Arial" pitchFamily="34" charset="0"/>
                <a:ea typeface="Arial" pitchFamily="34" charset="-122"/>
                <a:cs typeface="Arial" pitchFamily="34" charset="-120"/>
              </a:rPr>
              <a:t>Phase overlay decides the lever:  </a:t>
            </a:r>
            <a:pPr indent="0" marL="0">
              <a:buNone/>
            </a:pPr>
            <a:r>
              <a:rPr lang="en-US" sz="850" dirty="0">
                <a:solidFill>
                  <a:srgbClr val="1A1A1A"/>
                </a:solidFill>
                <a:latin typeface="Arial" pitchFamily="34" charset="0"/>
                <a:ea typeface="Arial" pitchFamily="34" charset="-122"/>
                <a:cs typeface="Arial" pitchFamily="34" charset="-120"/>
              </a:rPr>
              <a:t>Star and Question marks push volume (all PMs sit here). Cash cow (Offline) is maintain only, no PM. Low profitability is acceptable today where the phase says grow the size.</a:t>
            </a:r>
            <a:endParaRPr lang="en-US" sz="850" dirty="0"/>
          </a:p>
        </p:txBody>
      </p:sp>
      <p:sp>
        <p:nvSpPr>
          <p:cNvPr id="15" name="Text 13"/>
          <p:cNvSpPr/>
          <p:nvPr/>
        </p:nvSpPr>
        <p:spPr>
          <a:xfrm>
            <a:off x="411480" y="4937760"/>
            <a:ext cx="3675888" cy="182880"/>
          </a:xfrm>
          <a:prstGeom prst="rect">
            <a:avLst/>
          </a:prstGeom>
          <a:noFill/>
          <a:ln/>
        </p:spPr>
        <p:txBody>
          <a:bodyPr wrap="square" lIns="0" tIns="0" rIns="0" bIns="0" rtlCol="0" anchor="ctr"/>
          <a:lstStyle/>
          <a:p>
            <a:pPr indent="0" marL="0">
              <a:buNone/>
            </a:pPr>
            <a:r>
              <a:rPr lang="en-US" sz="850" b="1" spc="50" kern="0" dirty="0">
                <a:solidFill>
                  <a:srgbClr val="1A1A1A"/>
                </a:solidFill>
                <a:latin typeface="Arial" pitchFamily="34" charset="0"/>
                <a:ea typeface="Arial" pitchFamily="34" charset="-122"/>
                <a:cs typeface="Arial" pitchFamily="34" charset="-120"/>
              </a:rPr>
              <a:t>NUMBERS POLICY</a:t>
            </a:r>
            <a:endParaRPr lang="en-US" sz="850" dirty="0"/>
          </a:p>
        </p:txBody>
      </p:sp>
      <p:sp>
        <p:nvSpPr>
          <p:cNvPr id="16" name="Text 14"/>
          <p:cNvSpPr/>
          <p:nvPr/>
        </p:nvSpPr>
        <p:spPr>
          <a:xfrm>
            <a:off x="411480" y="5138928"/>
            <a:ext cx="3675888" cy="640080"/>
          </a:xfrm>
          <a:prstGeom prst="rect">
            <a:avLst/>
          </a:prstGeom>
          <a:noFill/>
          <a:ln/>
        </p:spPr>
        <p:txBody>
          <a:bodyPr wrap="square" lIns="0" tIns="0" rIns="0" bIns="0" rtlCol="0" anchor="t"/>
          <a:lstStyle/>
          <a:p>
            <a:pPr indent="0" marL="0">
              <a:lnSpc>
                <a:spcPct val="114000"/>
              </a:lnSpc>
              <a:buNone/>
            </a:pPr>
            <a:r>
              <a:rPr lang="en-US" sz="850" dirty="0">
                <a:solidFill>
                  <a:srgbClr val="3D3D3D"/>
                </a:solidFill>
                <a:latin typeface="Arial" pitchFamily="34" charset="0"/>
                <a:ea typeface="Arial" pitchFamily="34" charset="-122"/>
                <a:cs typeface="Arial" pitchFamily="34" charset="-120"/>
              </a:rPr>
              <a:t>Every number KPI is a placeholder (P__) until we set it bottom-up and approve it together. First pass on this call, then a standing review at the monthly KPI readout.</a:t>
            </a:r>
            <a:endParaRPr lang="en-US" sz="850" dirty="0"/>
          </a:p>
        </p:txBody>
      </p:sp>
      <p:sp>
        <p:nvSpPr>
          <p:cNvPr id="17" name="Text 15"/>
          <p:cNvSpPr/>
          <p:nvPr/>
        </p:nvSpPr>
        <p:spPr>
          <a:xfrm>
            <a:off x="4315968" y="969264"/>
            <a:ext cx="4041648" cy="219456"/>
          </a:xfrm>
          <a:prstGeom prst="rect">
            <a:avLst/>
          </a:prstGeom>
          <a:noFill/>
          <a:ln/>
        </p:spPr>
        <p:txBody>
          <a:bodyPr wrap="square" lIns="0" tIns="0" rIns="0" bIns="0" rtlCol="0" anchor="ctr"/>
          <a:lstStyle/>
          <a:p>
            <a:pPr indent="0" marL="0">
              <a:buNone/>
            </a:pPr>
            <a:r>
              <a:rPr lang="en-US" sz="1050" b="1" spc="100" kern="0" dirty="0">
                <a:solidFill>
                  <a:srgbClr val="203AA9"/>
                </a:solidFill>
                <a:latin typeface="Arial" pitchFamily="34" charset="0"/>
                <a:ea typeface="Arial" pitchFamily="34" charset="-122"/>
                <a:cs typeface="Arial" pitchFamily="34" charset="-120"/>
              </a:rPr>
              <a:t>2. OWNER KPIs, THREE EACH</a:t>
            </a:r>
            <a:endParaRPr lang="en-US" sz="1050" dirty="0"/>
          </a:p>
        </p:txBody>
      </p:sp>
      <p:sp>
        <p:nvSpPr>
          <p:cNvPr id="18" name="Text 16"/>
          <p:cNvSpPr/>
          <p:nvPr/>
        </p:nvSpPr>
        <p:spPr>
          <a:xfrm>
            <a:off x="4315968" y="1188720"/>
            <a:ext cx="4041648" cy="182880"/>
          </a:xfrm>
          <a:prstGeom prst="rect">
            <a:avLst/>
          </a:prstGeom>
          <a:noFill/>
          <a:ln/>
        </p:spPr>
        <p:txBody>
          <a:bodyPr wrap="square" lIns="0" tIns="0" rIns="0" bIns="0" rtlCol="0" anchor="ctr"/>
          <a:lstStyle/>
          <a:p>
            <a:pPr indent="0" marL="0">
              <a:buNone/>
            </a:pPr>
            <a:r>
              <a:rPr lang="en-US" sz="850" i="1" dirty="0">
                <a:solidFill>
                  <a:srgbClr val="8A8A82"/>
                </a:solidFill>
                <a:latin typeface="Arial" pitchFamily="34" charset="0"/>
                <a:ea typeface="Arial" pitchFamily="34" charset="-122"/>
                <a:cs typeface="Arial" pitchFamily="34" charset="-120"/>
              </a:rPr>
              <a:t>D1 line outcome, D2 key driver, D3 delivery (all owners)</a:t>
            </a:r>
            <a:endParaRPr lang="en-US" sz="850" dirty="0"/>
          </a:p>
        </p:txBody>
      </p:sp>
      <p:sp>
        <p:nvSpPr>
          <p:cNvPr id="19" name="Text 17"/>
          <p:cNvSpPr/>
          <p:nvPr/>
        </p:nvSpPr>
        <p:spPr>
          <a:xfrm>
            <a:off x="4315968" y="1426464"/>
            <a:ext cx="4041648" cy="443484"/>
          </a:xfrm>
          <a:prstGeom prst="rect">
            <a:avLst/>
          </a:prstGeom>
          <a:solidFill>
            <a:srgbClr val="F6F4EF"/>
          </a:solidFill>
          <a:ln/>
        </p:spPr>
        <p:txBody>
          <a:bodyPr wrap="square" lIns="572" tIns="572" rIns="572" bIns="572" rtlCol="0" anchor="ctr"/>
          <a:lstStyle/>
          <a:p>
            <a:pPr indent="0" marL="0">
              <a:lnSpc>
                <a:spcPct val="105000"/>
              </a:lnSpc>
              <a:buNone/>
            </a:pPr>
            <a:r>
              <a:rPr lang="en-US" sz="850" b="1" dirty="0">
                <a:solidFill>
                  <a:srgbClr val="1A1A1A"/>
                </a:solidFill>
                <a:latin typeface="Arial" pitchFamily="34" charset="0"/>
                <a:ea typeface="Arial" pitchFamily="34" charset="-122"/>
                <a:cs typeface="Arial" pitchFamily="34" charset="-120"/>
              </a:rPr>
              <a:t>JV Manlangit, Moto and SAP</a:t>
            </a:r>
            <a:endParaRPr lang="en-US" sz="850" dirty="0"/>
          </a:p>
          <a:p>
            <a:pPr indent="0" marL="0">
              <a:lnSpc>
                <a:spcPct val="105000"/>
              </a:lnSpc>
              <a:buNone/>
            </a:pPr>
            <a:r>
              <a:rPr lang="en-US" sz="850" dirty="0">
                <a:solidFill>
                  <a:srgbClr val="3D3D3D"/>
                </a:solidFill>
                <a:latin typeface="Arial" pitchFamily="34" charset="0"/>
                <a:ea typeface="Arial" pitchFamily="34" charset="-122"/>
                <a:cs typeface="Arial" pitchFamily="34" charset="-120"/>
              </a:rPr>
              <a:t>Moto monthly disbursement P__M (Nhat-gated), disbursement per active sales agent P__</a:t>
            </a:r>
            <a:endParaRPr lang="en-US" sz="850" dirty="0"/>
          </a:p>
        </p:txBody>
      </p:sp>
      <p:sp>
        <p:nvSpPr>
          <p:cNvPr id="20" name="Text 18"/>
          <p:cNvSpPr/>
          <p:nvPr/>
        </p:nvSpPr>
        <p:spPr>
          <a:xfrm>
            <a:off x="4315968" y="1906524"/>
            <a:ext cx="4041648" cy="443484"/>
          </a:xfrm>
          <a:prstGeom prst="rect">
            <a:avLst/>
          </a:prstGeom>
          <a:noFill/>
          <a:ln/>
        </p:spPr>
        <p:txBody>
          <a:bodyPr wrap="square" lIns="572" tIns="572" rIns="572" bIns="572" rtlCol="0" anchor="ctr"/>
          <a:lstStyle/>
          <a:p>
            <a:pPr indent="0" marL="0">
              <a:lnSpc>
                <a:spcPct val="105000"/>
              </a:lnSpc>
              <a:buNone/>
            </a:pPr>
            <a:r>
              <a:rPr lang="en-US" sz="850" b="1" dirty="0">
                <a:solidFill>
                  <a:srgbClr val="1A1A1A"/>
                </a:solidFill>
                <a:latin typeface="Arial" pitchFamily="34" charset="0"/>
                <a:ea typeface="Arial" pitchFamily="34" charset="-122"/>
                <a:cs typeface="Arial" pitchFamily="34" charset="-120"/>
              </a:rPr>
              <a:t>Anton Betia, Deals and Solar</a:t>
            </a:r>
            <a:endParaRPr lang="en-US" sz="850" dirty="0"/>
          </a:p>
          <a:p>
            <a:pPr indent="0" marL="0">
              <a:lnSpc>
                <a:spcPct val="105000"/>
              </a:lnSpc>
              <a:buNone/>
            </a:pPr>
            <a:r>
              <a:rPr lang="en-US" sz="850" dirty="0">
                <a:solidFill>
                  <a:srgbClr val="3D3D3D"/>
                </a:solidFill>
                <a:latin typeface="Arial" pitchFamily="34" charset="0"/>
                <a:ea typeface="Arial" pitchFamily="34" charset="-122"/>
                <a:cs typeface="Arial" pitchFamily="34" charset="-120"/>
              </a:rPr>
              <a:t>Deals monthly disbursement P__M staged at positive NPM, acceptance and conversion (salvage plan on rejects)</a:t>
            </a:r>
            <a:endParaRPr lang="en-US" sz="850" dirty="0"/>
          </a:p>
        </p:txBody>
      </p:sp>
      <p:sp>
        <p:nvSpPr>
          <p:cNvPr id="21" name="Text 19"/>
          <p:cNvSpPr/>
          <p:nvPr/>
        </p:nvSpPr>
        <p:spPr>
          <a:xfrm>
            <a:off x="4315968" y="2386584"/>
            <a:ext cx="4041648" cy="443484"/>
          </a:xfrm>
          <a:prstGeom prst="rect">
            <a:avLst/>
          </a:prstGeom>
          <a:solidFill>
            <a:srgbClr val="F6F4EF"/>
          </a:solidFill>
          <a:ln/>
        </p:spPr>
        <p:txBody>
          <a:bodyPr wrap="square" lIns="572" tIns="572" rIns="572" bIns="572" rtlCol="0" anchor="ctr"/>
          <a:lstStyle/>
          <a:p>
            <a:pPr indent="0" marL="0">
              <a:lnSpc>
                <a:spcPct val="105000"/>
              </a:lnSpc>
              <a:buNone/>
            </a:pPr>
            <a:r>
              <a:rPr lang="en-US" sz="850" b="1" dirty="0">
                <a:solidFill>
                  <a:srgbClr val="1A1A1A"/>
                </a:solidFill>
                <a:latin typeface="Arial" pitchFamily="34" charset="0"/>
                <a:ea typeface="Arial" pitchFamily="34" charset="-122"/>
                <a:cs typeface="Arial" pitchFamily="34" charset="-120"/>
              </a:rPr>
              <a:t>Manzil Balani, Deals BD</a:t>
            </a:r>
            <a:endParaRPr lang="en-US" sz="850" dirty="0"/>
          </a:p>
          <a:p>
            <a:pPr indent="0" marL="0">
              <a:lnSpc>
                <a:spcPct val="105000"/>
              </a:lnSpc>
              <a:buNone/>
            </a:pPr>
            <a:r>
              <a:rPr lang="en-US" sz="850" dirty="0">
                <a:solidFill>
                  <a:srgbClr val="3D3D3D"/>
                </a:solidFill>
                <a:latin typeface="Arial" pitchFamily="34" charset="0"/>
                <a:ea typeface="Arial" pitchFamily="34" charset="-122"/>
                <a:cs typeface="Arial" pitchFamily="34" charset="-120"/>
              </a:rPr>
              <a:t>Managed-account disbursement (ProTech, Maxicare, 3Cat), new merchants live, ticket uplift P__</a:t>
            </a:r>
            <a:endParaRPr lang="en-US" sz="850" dirty="0"/>
          </a:p>
        </p:txBody>
      </p:sp>
      <p:sp>
        <p:nvSpPr>
          <p:cNvPr id="22" name="Text 20"/>
          <p:cNvSpPr/>
          <p:nvPr/>
        </p:nvSpPr>
        <p:spPr>
          <a:xfrm>
            <a:off x="4315968" y="2866644"/>
            <a:ext cx="4041648" cy="443484"/>
          </a:xfrm>
          <a:prstGeom prst="rect">
            <a:avLst/>
          </a:prstGeom>
          <a:noFill/>
          <a:ln/>
        </p:spPr>
        <p:txBody>
          <a:bodyPr wrap="square" lIns="572" tIns="572" rIns="572" bIns="572" rtlCol="0" anchor="ctr"/>
          <a:lstStyle/>
          <a:p>
            <a:pPr indent="0" marL="0">
              <a:lnSpc>
                <a:spcPct val="105000"/>
              </a:lnSpc>
              <a:buNone/>
            </a:pPr>
            <a:r>
              <a:rPr lang="en-US" sz="850" b="1" dirty="0">
                <a:solidFill>
                  <a:srgbClr val="1A1A1A"/>
                </a:solidFill>
                <a:latin typeface="Arial" pitchFamily="34" charset="0"/>
                <a:ea typeface="Arial" pitchFamily="34" charset="-122"/>
                <a:cs typeface="Arial" pitchFamily="34" charset="-120"/>
              </a:rPr>
              <a:t>Elias Marcella, Credit Line and Card</a:t>
            </a:r>
            <a:endParaRPr lang="en-US" sz="850" dirty="0"/>
          </a:p>
          <a:p>
            <a:pPr indent="0" marL="0">
              <a:lnSpc>
                <a:spcPct val="105000"/>
              </a:lnSpc>
              <a:buNone/>
            </a:pPr>
            <a:r>
              <a:rPr lang="en-US" sz="850" dirty="0">
                <a:solidFill>
                  <a:srgbClr val="3D3D3D"/>
                </a:solidFill>
                <a:latin typeface="Arial" pitchFamily="34" charset="0"/>
                <a:ea typeface="Arial" pitchFamily="34" charset="-122"/>
                <a:cs typeface="Arial" pitchFamily="34" charset="-120"/>
              </a:rPr>
              <a:t>CL utilization and drawdown (target set ~30d post-launch), per-card break-even at CAC P__</a:t>
            </a:r>
            <a:endParaRPr lang="en-US" sz="850" dirty="0"/>
          </a:p>
        </p:txBody>
      </p:sp>
      <p:sp>
        <p:nvSpPr>
          <p:cNvPr id="23" name="Text 21"/>
          <p:cNvSpPr/>
          <p:nvPr/>
        </p:nvSpPr>
        <p:spPr>
          <a:xfrm>
            <a:off x="4315968" y="3346704"/>
            <a:ext cx="4041648" cy="443484"/>
          </a:xfrm>
          <a:prstGeom prst="rect">
            <a:avLst/>
          </a:prstGeom>
          <a:solidFill>
            <a:srgbClr val="F6F4EF"/>
          </a:solidFill>
          <a:ln/>
        </p:spPr>
        <p:txBody>
          <a:bodyPr wrap="square" lIns="572" tIns="572" rIns="572" bIns="572" rtlCol="0" anchor="ctr"/>
          <a:lstStyle/>
          <a:p>
            <a:pPr indent="0" marL="0">
              <a:lnSpc>
                <a:spcPct val="105000"/>
              </a:lnSpc>
              <a:buNone/>
            </a:pPr>
            <a:r>
              <a:rPr lang="en-US" sz="850" b="1" dirty="0">
                <a:solidFill>
                  <a:srgbClr val="1A1A1A"/>
                </a:solidFill>
                <a:latin typeface="Arial" pitchFamily="34" charset="0"/>
                <a:ea typeface="Arial" pitchFamily="34" charset="-122"/>
                <a:cs typeface="Arial" pitchFamily="34" charset="-120"/>
              </a:rPr>
              <a:t>Jastin Lagumbay, QRPh and Onboarding</a:t>
            </a:r>
            <a:endParaRPr lang="en-US" sz="850" dirty="0"/>
          </a:p>
          <a:p>
            <a:pPr indent="0" marL="0">
              <a:lnSpc>
                <a:spcPct val="105000"/>
              </a:lnSpc>
              <a:buNone/>
            </a:pPr>
            <a:r>
              <a:rPr lang="en-US" sz="850" dirty="0">
                <a:solidFill>
                  <a:srgbClr val="3D3D3D"/>
                </a:solidFill>
                <a:latin typeface="Arial" pitchFamily="34" charset="0"/>
                <a:ea typeface="Arial" pitchFamily="34" charset="-122"/>
                <a:cs typeface="Arial" pitchFamily="34" charset="-120"/>
              </a:rPr>
              <a:t>QRPh monthly run rate P__M, onboarding cycle time from signed to live, zero config errors</a:t>
            </a:r>
            <a:endParaRPr lang="en-US" sz="850" dirty="0"/>
          </a:p>
        </p:txBody>
      </p:sp>
      <p:sp>
        <p:nvSpPr>
          <p:cNvPr id="24" name="Text 22"/>
          <p:cNvSpPr/>
          <p:nvPr/>
        </p:nvSpPr>
        <p:spPr>
          <a:xfrm>
            <a:off x="4315968" y="3826764"/>
            <a:ext cx="4041648" cy="402336"/>
          </a:xfrm>
          <a:prstGeom prst="rect">
            <a:avLst/>
          </a:prstGeom>
          <a:noFill/>
          <a:ln/>
        </p:spPr>
        <p:txBody>
          <a:bodyPr wrap="square" lIns="0" tIns="0" rIns="0" bIns="0" rtlCol="0" anchor="ctr"/>
          <a:lstStyle/>
          <a:p>
            <a:pPr indent="0" marL="0">
              <a:lnSpc>
                <a:spcPct val="108000"/>
              </a:lnSpc>
              <a:buNone/>
            </a:pPr>
            <a:r>
              <a:rPr lang="en-US" sz="850" b="1" dirty="0">
                <a:solidFill>
                  <a:srgbClr val="1A1A1A"/>
                </a:solidFill>
                <a:latin typeface="Arial" pitchFamily="34" charset="0"/>
                <a:ea typeface="Arial" pitchFamily="34" charset="-122"/>
                <a:cs typeface="Arial" pitchFamily="34" charset="-120"/>
              </a:rPr>
              <a:t>D3, every owner: </a:t>
            </a:r>
            <a:pPr indent="0" marL="0">
              <a:lnSpc>
                <a:spcPct val="108000"/>
              </a:lnSpc>
              <a:buNone/>
            </a:pPr>
            <a:r>
              <a:rPr lang="en-US" sz="850" dirty="0">
                <a:solidFill>
                  <a:srgbClr val="1A1A1A"/>
                </a:solidFill>
                <a:latin typeface="Arial" pitchFamily="34" charset="0"/>
                <a:ea typeface="Arial" pitchFamily="34" charset="-122"/>
                <a:cs typeface="Arial" pitchFamily="34" charset="-120"/>
              </a:rPr>
              <a:t>agreed roadmap steps delivered on pace, scored weekly.   </a:t>
            </a:r>
            <a:pPr indent="0" marL="0">
              <a:lnSpc>
                <a:spcPct val="108000"/>
              </a:lnSpc>
              <a:buNone/>
            </a:pPr>
            <a:r>
              <a:rPr lang="en-US" sz="850" b="1" dirty="0">
                <a:solidFill>
                  <a:srgbClr val="1A1A1A"/>
                </a:solidFill>
                <a:latin typeface="Arial" pitchFamily="34" charset="0"/>
                <a:ea typeface="Arial" pitchFamily="34" charset="-122"/>
                <a:cs typeface="Arial" pitchFamily="34" charset="-120"/>
              </a:rPr>
              <a:t>Enablers: </a:t>
            </a:r>
            <a:pPr indent="0" marL="0">
              <a:lnSpc>
                <a:spcPct val="108000"/>
              </a:lnSpc>
              <a:buNone/>
            </a:pPr>
            <a:r>
              <a:rPr lang="en-US" sz="850" dirty="0">
                <a:solidFill>
                  <a:srgbClr val="1A1A1A"/>
                </a:solidFill>
                <a:latin typeface="Arial" pitchFamily="34" charset="0"/>
                <a:ea typeface="Arial" pitchFamily="34" charset="-122"/>
                <a:cs typeface="Arial" pitchFamily="34" charset="-120"/>
              </a:rPr>
              <a:t>Nhat (PBT per line model), Jenny (metric tree dashboard), Billy (release quality gate).</a:t>
            </a:r>
            <a:endParaRPr lang="en-US" sz="850" dirty="0"/>
          </a:p>
        </p:txBody>
      </p:sp>
      <p:sp>
        <p:nvSpPr>
          <p:cNvPr id="25" name="Text 23"/>
          <p:cNvSpPr/>
          <p:nvPr/>
        </p:nvSpPr>
        <p:spPr>
          <a:xfrm>
            <a:off x="4315968" y="4338828"/>
            <a:ext cx="4041648" cy="219456"/>
          </a:xfrm>
          <a:prstGeom prst="rect">
            <a:avLst/>
          </a:prstGeom>
          <a:noFill/>
          <a:ln/>
        </p:spPr>
        <p:txBody>
          <a:bodyPr wrap="square" lIns="0" tIns="0" rIns="0" bIns="0" rtlCol="0" anchor="ctr"/>
          <a:lstStyle/>
          <a:p>
            <a:pPr indent="0" marL="0">
              <a:buNone/>
            </a:pPr>
            <a:r>
              <a:rPr lang="en-US" sz="1050" b="1" spc="100" kern="0" dirty="0">
                <a:solidFill>
                  <a:srgbClr val="203AA9"/>
                </a:solidFill>
                <a:latin typeface="Arial" pitchFamily="34" charset="0"/>
                <a:ea typeface="Arial" pitchFamily="34" charset="-122"/>
                <a:cs typeface="Arial" pitchFamily="34" charset="-120"/>
              </a:rPr>
              <a:t>3. TARGETS ARE SET BOTTOM-UP</a:t>
            </a:r>
            <a:endParaRPr lang="en-US" sz="1050" dirty="0"/>
          </a:p>
        </p:txBody>
      </p:sp>
      <p:sp>
        <p:nvSpPr>
          <p:cNvPr id="26" name="Text 24"/>
          <p:cNvSpPr/>
          <p:nvPr/>
        </p:nvSpPr>
        <p:spPr>
          <a:xfrm>
            <a:off x="4315968" y="4594860"/>
            <a:ext cx="4041648" cy="1051560"/>
          </a:xfrm>
          <a:prstGeom prst="rect">
            <a:avLst/>
          </a:prstGeom>
          <a:noFill/>
          <a:ln/>
        </p:spPr>
        <p:txBody>
          <a:bodyPr wrap="square" lIns="0" tIns="0" rIns="0" bIns="0" rtlCol="0" anchor="ctr"/>
          <a:lstStyle/>
          <a:p>
            <a:pPr indent="0" marL="0">
              <a:lnSpc>
                <a:spcPct val="114000"/>
              </a:lnSpc>
              <a:spcAft>
                <a:spcPts val="400"/>
              </a:spcAft>
              <a:buNone/>
            </a:pPr>
            <a:r>
              <a:rPr lang="en-US" sz="880" b="1" dirty="0">
                <a:solidFill>
                  <a:srgbClr val="1A1A1A"/>
                </a:solidFill>
                <a:latin typeface="Arial" pitchFamily="34" charset="0"/>
                <a:ea typeface="Arial" pitchFamily="34" charset="-122"/>
                <a:cs typeface="Arial" pitchFamily="34" charset="-120"/>
              </a:rPr>
              <a:t>Where we are → why (margin, risk or opex?) → agreed actions → estimated impact → deadline → the target.</a:t>
            </a:r>
            <a:endParaRPr lang="en-US" sz="880" dirty="0"/>
          </a:p>
          <a:p>
            <a:pPr indent="0" marL="0">
              <a:lnSpc>
                <a:spcPct val="114000"/>
              </a:lnSpc>
              <a:spcAft>
                <a:spcPts val="400"/>
              </a:spcAft>
              <a:buNone/>
            </a:pPr>
            <a:r>
              <a:rPr lang="en-US" sz="880" i="1" dirty="0">
                <a:solidFill>
                  <a:srgbClr val="3D3D3D"/>
                </a:solidFill>
                <a:latin typeface="Arial" pitchFamily="34" charset="0"/>
                <a:ea typeface="Arial" pitchFamily="34" charset="-122"/>
                <a:cs typeface="Arial" pitchFamily="34" charset="-120"/>
              </a:rPr>
              <a:t>e.g. a reject-salvage plan on Deals: estimate how much can be converted, put a date on it, and that estimate becomes the month's target.</a:t>
            </a:r>
            <a:endParaRPr lang="en-US" sz="880" dirty="0"/>
          </a:p>
          <a:p>
            <a:pPr indent="0" marL="0">
              <a:lnSpc>
                <a:spcPct val="114000"/>
              </a:lnSpc>
              <a:spcAft>
                <a:spcPts val="400"/>
              </a:spcAft>
              <a:buNone/>
            </a:pPr>
            <a:r>
              <a:rPr lang="en-US" sz="880" dirty="0">
                <a:solidFill>
                  <a:srgbClr val="1A1A1A"/>
                </a:solidFill>
                <a:latin typeface="Arial" pitchFamily="34" charset="0"/>
                <a:ea typeface="Arial" pitchFamily="34" charset="-122"/>
                <a:cs typeface="Arial" pitchFamily="34" charset="-120"/>
              </a:rPr>
              <a:t>No targets out of nowhere. A miss traces to a delivery gap, visible per project in the tracker.</a:t>
            </a:r>
            <a:endParaRPr lang="en-US" sz="880" dirty="0"/>
          </a:p>
        </p:txBody>
      </p:sp>
      <p:sp>
        <p:nvSpPr>
          <p:cNvPr id="27" name="Text 25"/>
          <p:cNvSpPr/>
          <p:nvPr/>
        </p:nvSpPr>
        <p:spPr>
          <a:xfrm>
            <a:off x="8613648" y="969264"/>
            <a:ext cx="3163824" cy="219456"/>
          </a:xfrm>
          <a:prstGeom prst="rect">
            <a:avLst/>
          </a:prstGeom>
          <a:noFill/>
          <a:ln/>
        </p:spPr>
        <p:txBody>
          <a:bodyPr wrap="square" lIns="0" tIns="0" rIns="0" bIns="0" rtlCol="0" anchor="ctr"/>
          <a:lstStyle/>
          <a:p>
            <a:pPr indent="0" marL="0">
              <a:buNone/>
            </a:pPr>
            <a:r>
              <a:rPr lang="en-US" sz="1050" b="1" spc="100" kern="0" dirty="0">
                <a:solidFill>
                  <a:srgbClr val="203AA9"/>
                </a:solidFill>
                <a:latin typeface="Arial" pitchFamily="34" charset="0"/>
                <a:ea typeface="Arial" pitchFamily="34" charset="-122"/>
                <a:cs typeface="Arial" pitchFamily="34" charset="-120"/>
              </a:rPr>
              <a:t>4. TRACKING RHYTHM, STRICT FROM JULY</a:t>
            </a:r>
            <a:endParaRPr lang="en-US" sz="1050" dirty="0"/>
          </a:p>
        </p:txBody>
      </p:sp>
      <p:sp>
        <p:nvSpPr>
          <p:cNvPr id="28" name="Text 26"/>
          <p:cNvSpPr/>
          <p:nvPr/>
        </p:nvSpPr>
        <p:spPr>
          <a:xfrm>
            <a:off x="8613648" y="1243584"/>
            <a:ext cx="3163824" cy="758952"/>
          </a:xfrm>
          <a:prstGeom prst="rect">
            <a:avLst/>
          </a:prstGeom>
          <a:noFill/>
          <a:ln/>
        </p:spPr>
        <p:txBody>
          <a:bodyPr wrap="square" lIns="0" tIns="0" rIns="0" bIns="0" rtlCol="0" anchor="ctr"/>
          <a:lstStyle/>
          <a:p>
            <a:pPr indent="0" marL="0">
              <a:lnSpc>
                <a:spcPct val="108000"/>
              </a:lnSpc>
              <a:buNone/>
            </a:pPr>
            <a:r>
              <a:rPr lang="en-US" sz="850" b="1" dirty="0">
                <a:solidFill>
                  <a:srgbClr val="203AA9"/>
                </a:solidFill>
                <a:latin typeface="Arial" pitchFamily="34" charset="0"/>
                <a:ea typeface="Arial" pitchFamily="34" charset="-122"/>
                <a:cs typeface="Arial" pitchFamily="34" charset="-120"/>
              </a:rPr>
              <a:t>Weekly: Monday standup</a:t>
            </a:r>
            <a:endParaRPr lang="en-US" sz="850" dirty="0"/>
          </a:p>
          <a:p>
            <a:pPr indent="0" marL="0">
              <a:lnSpc>
                <a:spcPct val="108000"/>
              </a:lnSpc>
              <a:buNone/>
            </a:pPr>
            <a:r>
              <a:rPr lang="en-US" sz="850" dirty="0">
                <a:solidFill>
                  <a:srgbClr val="1A1A1A"/>
                </a:solidFill>
                <a:latin typeface="Arial" pitchFamily="34" charset="0"/>
                <a:ea typeface="Arial" pitchFamily="34" charset="-122"/>
                <a:cs typeface="Arial" pitchFamily="34" charset="-120"/>
              </a:rPr>
              <a:t>Exec tracker, shared with the whole team: status, due vs delivered, blockers, impact. Detail stays in ClickUp (linked per row). Delivery scores are kept separately by Kurt.</a:t>
            </a:r>
            <a:endParaRPr lang="en-US" sz="850" dirty="0"/>
          </a:p>
        </p:txBody>
      </p:sp>
      <p:sp>
        <p:nvSpPr>
          <p:cNvPr id="29" name="Text 27"/>
          <p:cNvSpPr/>
          <p:nvPr/>
        </p:nvSpPr>
        <p:spPr>
          <a:xfrm>
            <a:off x="8613648" y="2107692"/>
            <a:ext cx="3163824" cy="475488"/>
          </a:xfrm>
          <a:prstGeom prst="rect">
            <a:avLst/>
          </a:prstGeom>
          <a:noFill/>
          <a:ln/>
        </p:spPr>
        <p:txBody>
          <a:bodyPr wrap="square" lIns="0" tIns="0" rIns="0" bIns="0" rtlCol="0" anchor="ctr"/>
          <a:lstStyle/>
          <a:p>
            <a:pPr indent="0" marL="0">
              <a:lnSpc>
                <a:spcPct val="108000"/>
              </a:lnSpc>
              <a:buNone/>
            </a:pPr>
            <a:r>
              <a:rPr lang="en-US" sz="850" b="1" dirty="0">
                <a:solidFill>
                  <a:srgbClr val="203AA9"/>
                </a:solidFill>
                <a:latin typeface="Arial" pitchFamily="34" charset="0"/>
                <a:ea typeface="Arial" pitchFamily="34" charset="-122"/>
                <a:cs typeface="Arial" pitchFamily="34" charset="-120"/>
              </a:rPr>
              <a:t>Monthly: KPI readout</a:t>
            </a:r>
            <a:endParaRPr lang="en-US" sz="850" dirty="0"/>
          </a:p>
          <a:p>
            <a:pPr indent="0" marL="0">
              <a:lnSpc>
                <a:spcPct val="108000"/>
              </a:lnSpc>
              <a:buNone/>
            </a:pPr>
            <a:r>
              <a:rPr lang="en-US" sz="850" dirty="0">
                <a:solidFill>
                  <a:srgbClr val="1A1A1A"/>
                </a:solidFill>
                <a:latin typeface="Arial" pitchFamily="34" charset="0"/>
                <a:ea typeface="Arial" pitchFamily="34" charset="-122"/>
                <a:cs typeface="Arial" pitchFamily="34" charset="-120"/>
              </a:rPr>
              <a:t>Target vs actual per line, from Nhat's PBT model and Jenny's dashboard.</a:t>
            </a:r>
            <a:endParaRPr lang="en-US" sz="850" dirty="0"/>
          </a:p>
        </p:txBody>
      </p:sp>
      <p:sp>
        <p:nvSpPr>
          <p:cNvPr id="30" name="Text 28"/>
          <p:cNvSpPr/>
          <p:nvPr/>
        </p:nvSpPr>
        <p:spPr>
          <a:xfrm>
            <a:off x="8613648" y="2688336"/>
            <a:ext cx="3163824" cy="758952"/>
          </a:xfrm>
          <a:prstGeom prst="rect">
            <a:avLst/>
          </a:prstGeom>
          <a:noFill/>
          <a:ln/>
        </p:spPr>
        <p:txBody>
          <a:bodyPr wrap="square" lIns="0" tIns="0" rIns="0" bIns="0" rtlCol="0" anchor="ctr"/>
          <a:lstStyle/>
          <a:p>
            <a:pPr indent="0" marL="0">
              <a:lnSpc>
                <a:spcPct val="108000"/>
              </a:lnSpc>
              <a:buNone/>
            </a:pPr>
            <a:r>
              <a:rPr lang="en-US" sz="850" b="1" dirty="0">
                <a:solidFill>
                  <a:srgbClr val="203AA9"/>
                </a:solidFill>
                <a:latin typeface="Arial" pitchFamily="34" charset="0"/>
                <a:ea typeface="Arial" pitchFamily="34" charset="-122"/>
                <a:cs typeface="Arial" pitchFamily="34" charset="-120"/>
              </a:rPr>
              <a:t>Quarterly: scorecard (first at end of Sep)</a:t>
            </a:r>
            <a:endParaRPr lang="en-US" sz="850" dirty="0"/>
          </a:p>
          <a:p>
            <a:pPr indent="0" marL="0">
              <a:lnSpc>
                <a:spcPct val="108000"/>
              </a:lnSpc>
              <a:buNone/>
            </a:pPr>
            <a:r>
              <a:rPr lang="en-US" sz="850" dirty="0">
                <a:solidFill>
                  <a:srgbClr val="1A1A1A"/>
                </a:solidFill>
                <a:latin typeface="Arial" pitchFamily="34" charset="0"/>
                <a:ea typeface="Arial" pitchFamily="34" charset="-122"/>
                <a:cs typeface="Arial" pitchFamily="34" charset="-120"/>
              </a:rPr>
              <a:t>Revolut-style review per PM: Culture, Skills, and Deliverables = (Speed + Quality) x Complexity, against the seniority talent bar. Grades: A-player, Above bar, Underperformer. A-players calibrated to 15-25%.</a:t>
            </a:r>
            <a:endParaRPr lang="en-US" sz="850" dirty="0"/>
          </a:p>
        </p:txBody>
      </p:sp>
      <p:sp>
        <p:nvSpPr>
          <p:cNvPr id="31" name="Text 29"/>
          <p:cNvSpPr/>
          <p:nvPr/>
        </p:nvSpPr>
        <p:spPr>
          <a:xfrm>
            <a:off x="8613648" y="3552444"/>
            <a:ext cx="3163824" cy="475488"/>
          </a:xfrm>
          <a:prstGeom prst="rect">
            <a:avLst/>
          </a:prstGeom>
          <a:noFill/>
          <a:ln/>
        </p:spPr>
        <p:txBody>
          <a:bodyPr wrap="square" lIns="0" tIns="0" rIns="0" bIns="0" rtlCol="0" anchor="ctr"/>
          <a:lstStyle/>
          <a:p>
            <a:pPr indent="0" marL="0">
              <a:lnSpc>
                <a:spcPct val="108000"/>
              </a:lnSpc>
              <a:buNone/>
            </a:pPr>
            <a:r>
              <a:rPr lang="en-US" sz="850" b="1" dirty="0">
                <a:solidFill>
                  <a:srgbClr val="203AA9"/>
                </a:solidFill>
                <a:latin typeface="Arial" pitchFamily="34" charset="0"/>
                <a:ea typeface="Arial" pitchFamily="34" charset="-122"/>
                <a:cs typeface="Arial" pitchFamily="34" charset="-120"/>
              </a:rPr>
              <a:t>Semi-annual: promotion and pay</a:t>
            </a:r>
            <a:endParaRPr lang="en-US" sz="850" dirty="0"/>
          </a:p>
          <a:p>
            <a:pPr indent="0" marL="0">
              <a:lnSpc>
                <a:spcPct val="108000"/>
              </a:lnSpc>
              <a:buNone/>
            </a:pPr>
            <a:r>
              <a:rPr lang="en-US" sz="850" dirty="0">
                <a:solidFill>
                  <a:srgbClr val="1A1A1A"/>
                </a:solidFill>
                <a:latin typeface="Arial" pitchFamily="34" charset="0"/>
                <a:ea typeface="Arial" pitchFamily="34" charset="-122"/>
                <a:cs typeface="Arial" pitchFamily="34" charset="-120"/>
              </a:rPr>
              <a:t>Promotions on sustained A-player grades, pay to benchmark, bonus multiplier = grade x KPI attainment.</a:t>
            </a:r>
            <a:endParaRPr lang="en-US" sz="850" dirty="0"/>
          </a:p>
        </p:txBody>
      </p:sp>
      <p:sp>
        <p:nvSpPr>
          <p:cNvPr id="32" name="Text 30"/>
          <p:cNvSpPr/>
          <p:nvPr/>
        </p:nvSpPr>
        <p:spPr>
          <a:xfrm>
            <a:off x="8613648" y="4187952"/>
            <a:ext cx="3163824" cy="1975104"/>
          </a:xfrm>
          <a:prstGeom prst="roundRect">
            <a:avLst>
              <a:gd name="adj" fmla="val 2315"/>
            </a:avLst>
          </a:prstGeom>
          <a:solidFill>
            <a:srgbClr val="ECEEF8"/>
          </a:solidFill>
          <a:ln/>
        </p:spPr>
        <p:txBody>
          <a:bodyPr wrap="square" lIns="1270" tIns="1270" rIns="1270" bIns="1270" rtlCol="0" anchor="t"/>
          <a:lstStyle/>
          <a:p>
            <a:pPr indent="0" marL="0">
              <a:lnSpc>
                <a:spcPct val="110000"/>
              </a:lnSpc>
              <a:spcAft>
                <a:spcPts val="300"/>
              </a:spcAft>
              <a:buNone/>
            </a:pPr>
            <a:r>
              <a:rPr lang="en-US" sz="1050" b="1" spc="100" kern="0" dirty="0">
                <a:solidFill>
                  <a:srgbClr val="203AA9"/>
                </a:solidFill>
                <a:latin typeface="Arial" pitchFamily="34" charset="0"/>
                <a:ea typeface="Arial" pitchFamily="34" charset="-122"/>
                <a:cs typeface="Arial" pitchFamily="34" charset="-120"/>
              </a:rPr>
              <a:t>5. TO AGREE TODAY</a:t>
            </a:r>
            <a:endParaRPr lang="en-US" sz="880" dirty="0"/>
          </a:p>
          <a:p>
            <a:pPr indent="0" marL="0">
              <a:lnSpc>
                <a:spcPct val="110000"/>
              </a:lnSpc>
              <a:spcAft>
                <a:spcPts val="300"/>
              </a:spcAft>
              <a:buNone/>
            </a:pPr>
            <a:r>
              <a:rPr lang="en-US" sz="880" dirty="0">
                <a:solidFill>
                  <a:srgbClr val="1A1A1A"/>
                </a:solidFill>
                <a:latin typeface="Arial" pitchFamily="34" charset="0"/>
                <a:ea typeface="Arial" pitchFamily="34" charset="-122"/>
                <a:cs typeface="Arial" pitchFamily="34" charset="-120"/>
              </a:rPr>
              <a:t>1.  Tier 0 = PBT per line, phase per line as shown</a:t>
            </a:r>
            <a:endParaRPr lang="en-US" sz="880" dirty="0"/>
          </a:p>
          <a:p>
            <a:pPr indent="0" marL="0">
              <a:lnSpc>
                <a:spcPct val="110000"/>
              </a:lnSpc>
              <a:spcAft>
                <a:spcPts val="300"/>
              </a:spcAft>
              <a:buNone/>
            </a:pPr>
            <a:r>
              <a:rPr lang="en-US" sz="880" dirty="0">
                <a:solidFill>
                  <a:srgbClr val="1A1A1A"/>
                </a:solidFill>
                <a:latin typeface="Arial" pitchFamily="34" charset="0"/>
                <a:ea typeface="Arial" pitchFamily="34" charset="-122"/>
                <a:cs typeface="Arial" pitchFamily="34" charset="-120"/>
              </a:rPr>
              <a:t>2.  Set the placeholder targets bottom-up: QRPh and Moto run rates, Deals ramp sizes and timing, CL utilization date</a:t>
            </a:r>
            <a:endParaRPr lang="en-US" sz="880" dirty="0"/>
          </a:p>
          <a:p>
            <a:pPr indent="0" marL="0">
              <a:lnSpc>
                <a:spcPct val="110000"/>
              </a:lnSpc>
              <a:spcAft>
                <a:spcPts val="300"/>
              </a:spcAft>
              <a:buNone/>
            </a:pPr>
            <a:r>
              <a:rPr lang="en-US" sz="880" dirty="0">
                <a:solidFill>
                  <a:srgbClr val="1A1A1A"/>
                </a:solidFill>
                <a:latin typeface="Arial" pitchFamily="34" charset="0"/>
                <a:ea typeface="Arial" pitchFamily="34" charset="-122"/>
                <a:cs typeface="Arial" pitchFamily="34" charset="-120"/>
              </a:rPr>
              <a:t>3.  Adopt the PO scorecard and talent bar for the 5 PMs, first review end of Sep</a:t>
            </a:r>
            <a:endParaRPr lang="en-US" sz="880" dirty="0"/>
          </a:p>
          <a:p>
            <a:pPr indent="0" marL="0">
              <a:lnSpc>
                <a:spcPct val="110000"/>
              </a:lnSpc>
              <a:spcAft>
                <a:spcPts val="300"/>
              </a:spcAft>
              <a:buNone/>
            </a:pPr>
            <a:r>
              <a:rPr lang="en-US" sz="880" dirty="0">
                <a:solidFill>
                  <a:srgbClr val="1A1A1A"/>
                </a:solidFill>
                <a:latin typeface="Arial" pitchFamily="34" charset="0"/>
                <a:ea typeface="Arial" pitchFamily="34" charset="-122"/>
                <a:cs typeface="Arial" pitchFamily="34" charset="-120"/>
              </a:rPr>
              <a:t>4.  Bonus linkage: scorecard grade x KPI attainment, team and lead</a:t>
            </a:r>
            <a:endParaRPr lang="en-US" sz="880" dirty="0"/>
          </a:p>
        </p:txBody>
      </p:sp>
      <p:sp>
        <p:nvSpPr>
          <p:cNvPr id="33" name="Text 31"/>
          <p:cNvSpPr/>
          <p:nvPr/>
        </p:nvSpPr>
        <p:spPr>
          <a:xfrm>
            <a:off x="411480" y="6528816"/>
            <a:ext cx="11365992" cy="201168"/>
          </a:xfrm>
          <a:prstGeom prst="rect">
            <a:avLst/>
          </a:prstGeom>
          <a:noFill/>
          <a:ln/>
        </p:spPr>
        <p:txBody>
          <a:bodyPr wrap="square" lIns="0" tIns="0" rIns="0" bIns="0" rtlCol="0" anchor="ctr"/>
          <a:lstStyle/>
          <a:p>
            <a:pPr indent="0" marL="0">
              <a:buNone/>
            </a:pPr>
            <a:r>
              <a:rPr lang="en-US" sz="800" dirty="0">
                <a:solidFill>
                  <a:srgbClr val="8A8A82"/>
                </a:solidFill>
                <a:latin typeface="Arial" pitchFamily="34" charset="0"/>
                <a:ea typeface="Arial" pitchFamily="34" charset="-122"/>
                <a:cs typeface="Arial" pitchFamily="34" charset="-120"/>
              </a:rPr>
              <a:t>Working docs: Executive Project Tracker v2 (weekly, shared, linked to the KPI tree and ClickUp), KPI Targets H2 tab (monthly), QuantumLight Product Owner scorecard (quarterly), Delivery Scoreboard (Kurt only).</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2026-07-19T10:33:48Z</dcterms:created>
  <dcterms:modified xsi:type="dcterms:W3CDTF">2026-07-19T10:33:48Z</dcterms:modified>
</cp:coreProperties>
</file>